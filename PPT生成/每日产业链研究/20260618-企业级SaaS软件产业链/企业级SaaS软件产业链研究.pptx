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208f97b4ab4b96" /><Relationship Type="http://schemas.openxmlformats.org/officeDocument/2006/relationships/extended-properties" Target="/docProps/app.xml" Id="R70b160a266ed41be" /><Relationship Type="http://schemas.openxmlformats.org/officeDocument/2006/relationships/officeDocument" Target="/ppt/presentation.xml" Id="R2e66ca152a7e44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79a1ec560a495d"/>
  </p:sldMasterIdLst>
  <p:notesMasterIdLst>
    <p:notesMasterId xmlns:r="http://schemas.openxmlformats.org/officeDocument/2006/relationships" r:id="R80b4cb2b1a4444b1"/>
  </p:notesMasterIdLst>
  <p:sldIdLst>
    <p:sldId xmlns:r="http://schemas.openxmlformats.org/officeDocument/2006/relationships" id="256" r:id="R1cd04867eb6d4d9c"/>
    <p:sldId xmlns:r="http://schemas.openxmlformats.org/officeDocument/2006/relationships" id="257" r:id="Rb051d6bd2a91444e"/>
    <p:sldId xmlns:r="http://schemas.openxmlformats.org/officeDocument/2006/relationships" id="258" r:id="Rbf1f118483354147"/>
    <p:sldId xmlns:r="http://schemas.openxmlformats.org/officeDocument/2006/relationships" id="259" r:id="Rf72c5f08ce614500"/>
    <p:sldId xmlns:r="http://schemas.openxmlformats.org/officeDocument/2006/relationships" id="260" r:id="Re0bc2410f1344f7d"/>
    <p:sldId xmlns:r="http://schemas.openxmlformats.org/officeDocument/2006/relationships" id="261" r:id="R6fa745b038204199"/>
    <p:sldId xmlns:r="http://schemas.openxmlformats.org/officeDocument/2006/relationships" id="262" r:id="Rb26f557803f0491c"/>
    <p:sldId xmlns:r="http://schemas.openxmlformats.org/officeDocument/2006/relationships" id="263" r:id="R482a2ae2beb94c14"/>
    <p:sldId xmlns:r="http://schemas.openxmlformats.org/officeDocument/2006/relationships" id="264" r:id="Re929fc65505a45c0"/>
    <p:sldId xmlns:r="http://schemas.openxmlformats.org/officeDocument/2006/relationships" id="265" r:id="R2b62229fb9b748bb"/>
    <p:sldId xmlns:r="http://schemas.openxmlformats.org/officeDocument/2006/relationships" id="266" r:id="R0c7e1fa3df76496d"/>
    <p:sldId xmlns:r="http://schemas.openxmlformats.org/officeDocument/2006/relationships" id="267" r:id="Rbfc5281d1e074506"/>
    <p:sldId xmlns:r="http://schemas.openxmlformats.org/officeDocument/2006/relationships" id="268" r:id="Rcc9d6d9f776a4460"/>
    <p:sldId xmlns:r="http://schemas.openxmlformats.org/officeDocument/2006/relationships" id="269" r:id="Rf2b30a6e5a55423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48bb43364c4b06" /><Relationship Type="http://schemas.openxmlformats.org/officeDocument/2006/relationships/slideMaster" Target="/ppt/slideMasters/slideMaster1.xml" Id="R5979a1ec560a495d" /><Relationship Type="http://schemas.openxmlformats.org/officeDocument/2006/relationships/notesMaster" Target="/ppt/notesMasters/notesMaster1.xml" Id="R80b4cb2b1a4444b1" /><Relationship Type="http://schemas.openxmlformats.org/officeDocument/2006/relationships/presProps" Target="/ppt/presProps.xml" Id="Rab2f01c800404acf" /><Relationship Type="http://schemas.openxmlformats.org/officeDocument/2006/relationships/tableStyles" Target="/ppt/tableStyles.xml" Id="R626c0deea0a648fc" /><Relationship Type="http://schemas.openxmlformats.org/officeDocument/2006/relationships/slide" Target="/ppt/slides/slide1.xml" Id="R1cd04867eb6d4d9c" /><Relationship Type="http://schemas.openxmlformats.org/officeDocument/2006/relationships/slide" Target="/ppt/slides/slide2.xml" Id="Rb051d6bd2a91444e" /><Relationship Type="http://schemas.openxmlformats.org/officeDocument/2006/relationships/slide" Target="/ppt/slides/slide3.xml" Id="Rbf1f118483354147" /><Relationship Type="http://schemas.openxmlformats.org/officeDocument/2006/relationships/slide" Target="/ppt/slides/slide4.xml" Id="Rf72c5f08ce614500" /><Relationship Type="http://schemas.openxmlformats.org/officeDocument/2006/relationships/slide" Target="/ppt/slides/slide5.xml" Id="Re0bc2410f1344f7d" /><Relationship Type="http://schemas.openxmlformats.org/officeDocument/2006/relationships/slide" Target="/ppt/slides/slide6.xml" Id="R6fa745b038204199" /><Relationship Type="http://schemas.openxmlformats.org/officeDocument/2006/relationships/slide" Target="/ppt/slides/slide7.xml" Id="Rb26f557803f0491c" /><Relationship Type="http://schemas.openxmlformats.org/officeDocument/2006/relationships/slide" Target="/ppt/slides/slide8.xml" Id="R482a2ae2beb94c14" /><Relationship Type="http://schemas.openxmlformats.org/officeDocument/2006/relationships/slide" Target="/ppt/slides/slide9.xml" Id="Re929fc65505a45c0" /><Relationship Type="http://schemas.openxmlformats.org/officeDocument/2006/relationships/slide" Target="/ppt/slides/slide10.xml" Id="R2b62229fb9b748bb" /><Relationship Type="http://schemas.openxmlformats.org/officeDocument/2006/relationships/slide" Target="/ppt/slides/slide11.xml" Id="R0c7e1fa3df76496d" /><Relationship Type="http://schemas.openxmlformats.org/officeDocument/2006/relationships/slide" Target="/ppt/slides/slide12.xml" Id="Rbfc5281d1e074506" /><Relationship Type="http://schemas.openxmlformats.org/officeDocument/2006/relationships/slide" Target="/ppt/slides/slide13.xml" Id="Rcc9d6d9f776a4460" /><Relationship Type="http://schemas.openxmlformats.org/officeDocument/2006/relationships/slide" Target="/ppt/slides/slide14.xml" Id="Rf2b30a6e5a5542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2a5313e9924f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dc007d3c754749" /><Relationship Type="http://schemas.openxmlformats.org/officeDocument/2006/relationships/notesMaster" Target="/ppt/notesMasters/notesMaster1.xml" Id="R7fca42bfa55f4a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34a83017d54adc" /><Relationship Type="http://schemas.openxmlformats.org/officeDocument/2006/relationships/notesMaster" Target="/ppt/notesMasters/notesMaster1.xml" Id="R6b5d410384464a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3e47daff854ffc" /><Relationship Type="http://schemas.openxmlformats.org/officeDocument/2006/relationships/notesMaster" Target="/ppt/notesMasters/notesMaster1.xml" Id="Rca19c38cab3c4b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c02f5bf38546c7" /><Relationship Type="http://schemas.openxmlformats.org/officeDocument/2006/relationships/notesMaster" Target="/ppt/notesMasters/notesMaster1.xml" Id="Rf24667d5e53847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6bd654d0804209" /><Relationship Type="http://schemas.openxmlformats.org/officeDocument/2006/relationships/notesMaster" Target="/ppt/notesMasters/notesMaster1.xml" Id="Rea3341a5a92b47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d629830d76497f" /><Relationship Type="http://schemas.openxmlformats.org/officeDocument/2006/relationships/notesMaster" Target="/ppt/notesMasters/notesMaster1.xml" Id="R7e5bb73937e24b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460f8e13fa4cf0" /><Relationship Type="http://schemas.openxmlformats.org/officeDocument/2006/relationships/notesMaster" Target="/ppt/notesMasters/notesMaster1.xml" Id="R644a15f4557541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88ed877d394957" /><Relationship Type="http://schemas.openxmlformats.org/officeDocument/2006/relationships/notesMaster" Target="/ppt/notesMasters/notesMaster1.xml" Id="R069a32206cb547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43149cecc84861" /><Relationship Type="http://schemas.openxmlformats.org/officeDocument/2006/relationships/notesMaster" Target="/ppt/notesMasters/notesMaster1.xml" Id="R3ee2ab8268f440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9517e71d8a4d8b" /><Relationship Type="http://schemas.openxmlformats.org/officeDocument/2006/relationships/notesMaster" Target="/ppt/notesMasters/notesMaster1.xml" Id="R24317a57002e45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19ec9c54f847d1" /><Relationship Type="http://schemas.openxmlformats.org/officeDocument/2006/relationships/notesMaster" Target="/ppt/notesMasters/notesMaster1.xml" Id="Re9ac594c4c4b46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0dfe65596142b2" /><Relationship Type="http://schemas.openxmlformats.org/officeDocument/2006/relationships/notesMaster" Target="/ppt/notesMasters/notesMaster1.xml" Id="R24081161f55742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f85d4ab6f5402b" /><Relationship Type="http://schemas.openxmlformats.org/officeDocument/2006/relationships/notesMaster" Target="/ppt/notesMasters/notesMaster1.xml" Id="R4ea1c09f3c8846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a2514f4eb04b60" /><Relationship Type="http://schemas.openxmlformats.org/officeDocument/2006/relationships/notesMaster" Target="/ppt/notesMasters/notesMaster1.xml" Id="Ra9dc5ff678cb48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dc8026ddf643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d5f3f089374081" /><Relationship Type="http://schemas.openxmlformats.org/officeDocument/2006/relationships/slideLayout" Target="/ppt/slideLayouts/slideLayout1.xml" Id="Rf761993ead424e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61993ead424e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2d437e75f4d5a" /><Relationship Type="http://schemas.openxmlformats.org/officeDocument/2006/relationships/notesSlide" Target="/ppt/notesSlides/notesSlide1.xml" Id="R7bd6155336a84e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d761861574290" /><Relationship Type="http://schemas.openxmlformats.org/officeDocument/2006/relationships/notesSlide" Target="/ppt/notesSlides/notesSlide2.xml" Id="R9e1b92bdaa8447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221b5bd184002" /><Relationship Type="http://schemas.openxmlformats.org/officeDocument/2006/relationships/notesSlide" Target="/ppt/notesSlides/notesSlide3.xml" Id="Ra8a240bee12940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bc09475724589" /><Relationship Type="http://schemas.openxmlformats.org/officeDocument/2006/relationships/notesSlide" Target="/ppt/notesSlides/notesSlide4.xml" Id="R7304297c010b47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2fa4aa29b4ee9" /><Relationship Type="http://schemas.openxmlformats.org/officeDocument/2006/relationships/notesSlide" Target="/ppt/notesSlides/notesSlide5.xml" Id="Rc9b222043a8c49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203a7250b4104" /><Relationship Type="http://schemas.openxmlformats.org/officeDocument/2006/relationships/notesSlide" Target="/ppt/notesSlides/notesSlide6.xml" Id="R8842469ade8e44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1460dd3a343a4" /><Relationship Type="http://schemas.openxmlformats.org/officeDocument/2006/relationships/notesSlide" Target="/ppt/notesSlides/notesSlide7.xml" Id="Ra44ff0f653d746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8fd27a61e450c" /><Relationship Type="http://schemas.openxmlformats.org/officeDocument/2006/relationships/notesSlide" Target="/ppt/notesSlides/notesSlide8.xml" Id="Rf73b5d817ff64d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13c2f8cc546cc" /><Relationship Type="http://schemas.openxmlformats.org/officeDocument/2006/relationships/notesSlide" Target="/ppt/notesSlides/notesSlide9.xml" Id="R5737a337dbfe4c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53283d2064a7f" /><Relationship Type="http://schemas.openxmlformats.org/officeDocument/2006/relationships/notesSlide" Target="/ppt/notesSlides/notesSlide10.xml" Id="R33e0143cfd104e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c3cfc61fd48dc" /><Relationship Type="http://schemas.openxmlformats.org/officeDocument/2006/relationships/notesSlide" Target="/ppt/notesSlides/notesSlide11.xml" Id="R37e2ababe8ae43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c90f5971b4809" /><Relationship Type="http://schemas.openxmlformats.org/officeDocument/2006/relationships/notesSlide" Target="/ppt/notesSlides/notesSlide12.xml" Id="Rf099da15ce4046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b4cddde974616" /><Relationship Type="http://schemas.openxmlformats.org/officeDocument/2006/relationships/notesSlide" Target="/ppt/notesSlides/notesSlide13.xml" Id="R27036bf9839c43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998501c4c4be6" /><Relationship Type="http://schemas.openxmlformats.org/officeDocument/2006/relationships/notesSlide" Target="/ppt/notesSlides/notesSlide14.xml" Id="R541023aa491648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0D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B590F2-2354-49D5-A720-02BE4A82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0" y="857250"/>
            <a:ext cx="6477000" cy="6477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E4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B8931-9316-4E07-9C64-6A4E72B3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572000" cy="4572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02A7C-185A-433B-9B70-AD066BFC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047750"/>
            <a:ext cx="6096000" cy="7239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241249"/>
          </a:solidFill>
          <a:ln xmlns:a="http://schemas.openxmlformats.org/drawingml/2006/main" w="14288">
            <a:solidFill>
              <a:srgbClr val="3A1F7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0D335-8565-4E52-9924-20930E12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4859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D8C6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D8C6FF"/>
                </a:solidFill>
                <a:latin typeface="PingFang SC"/>
                <a:ea typeface="PingFang SC"/>
                <a:cs typeface="PingFang SC"/>
              </a:rPr>
              <a:t>SAAS CHAIN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0AC85-E3CD-4231-AE5F-E737B5D5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857500"/>
            <a:ext cx="5334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企业级 SaaS 软件</a:t>
            </a:r>
          </a:p>
          <a:p xmlns:a="http://schemas.openxmlformats.org/drawingml/2006/main">
            <a:pPr>
              <a:defRPr sz="510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产业链研究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E3F2F-E1F7-4A4A-8B1D-6F8B6955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67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rPr>
              <a:t>从云基础设施、软件工程到客户成功与订阅续约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09F84-6144-4761-9568-A04CE50A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9239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rPr>
              <a:t>2026-06-18</a:t>
            </a:r>
          </a:p>
        </p:txBody>
      </p:sp>
    </p:spTree>
    <p:extLst>
      <p:ext uri="{BB962C8B-B14F-4D97-AF65-F5344CB8AC3E}">
        <p14:creationId xmlns:p14="http://schemas.microsoft.com/office/powerpoint/2010/main" val="1964098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7B4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D10E25-03B9-43C9-9CD2-8395B981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151BE-BCE4-45A3-9C33-2739E88C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047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75FD9-E125-49F7-9655-CED54AA8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0191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一句话理解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3118F-D931-4C0E-9FE2-9181D34E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05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32C77-27F2-4DBD-999E-4BF1D301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8764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客户与需求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68091-2EC7-41BF-B0BF-2683F812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B1457-0463-4D95-AB66-815DCEC7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7336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挑战与方案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83BFF-E8E9-42B4-B2D7-E151BDCC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19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31C72-FD86-4471-B103-314EF6EB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5909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SaaS 如何工作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8D503-7326-41A7-A927-F4B1AC0A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76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6D31F-280B-4004-B865-95BBA643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4481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竞争与替代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09E9C-5DF6-4A75-9F9F-8C681BAE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34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E47AD-0A6C-4BAD-B130-68058959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3054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客户成功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BABA0-92E2-4883-8216-20907E32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91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27AFA-A47B-409E-ADCB-87C5C697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1626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实施时间线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0E21A-A8C0-4640-BEBC-48FFA5A2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048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182C7B-6054-4BD5-B7F0-59771828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70199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价值与收费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93843-3F63-443D-9002-3397B8F7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905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8890D5-E7B6-41BE-8A66-6F4109BB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78771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</p:spTree>
    <p:extLst>
      <p:ext uri="{BB962C8B-B14F-4D97-AF65-F5344CB8AC3E}">
        <p14:creationId xmlns:p14="http://schemas.microsoft.com/office/powerpoint/2010/main" val="1725485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0D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FD872D-1A87-424E-BCA2-462ADCCF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68580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0E071F"/>
          </a:solidFill>
          <a:ln xmlns:a="http://schemas.openxmlformats.org/drawingml/2006/main" w="14288">
            <a:solidFill>
              <a:srgbClr val="3A1F7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F0C97-6BEF-4B92-A1CD-D83B0D86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SaaS ≠ 代码上云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B0F99-E5B3-45C1-9167-F7BEBB39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86250"/>
            <a:ext cx="7334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企业级 SaaS 卖的是持续可用、可升级、可集成、可审计的业务系统。它把云资源、软件工程、业务流程、安全合规和客户成功封装为订阅服务。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34A03-F642-49E8-8BE4-3665DFCE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29000"/>
            <a:ext cx="1524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2D3A0-47C4-4128-9C38-0E54CD8F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337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云资源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99CE8-F957-4739-B497-2357F181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1809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F899F-3C75-4EEE-8008-95EE5CA4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910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业务流程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9AD73-3133-4552-B453-DA0F1533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1809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F3C8A-D875-4260-AD71-D8B3D467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48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安全合规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D1703-8EA1-466D-96F6-D1CC8C37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53125"/>
            <a:ext cx="1809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8B87F-81A0-4823-AEA2-9FA73066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057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客户成功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2D217-9627-4016-B307-27E79A69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620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rPr>
              <a:t>企业级 SaaS 软件产业链研究</a:t>
            </a:r>
          </a:p>
        </p:txBody>
      </p:sp>
    </p:spTree>
    <p:extLst>
      <p:ext uri="{BB962C8B-B14F-4D97-AF65-F5344CB8AC3E}">
        <p14:creationId xmlns:p14="http://schemas.microsoft.com/office/powerpoint/2010/main" val="20094220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B0D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A40D60-7F62-4836-B064-B5EFFBCB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客户与需求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FD8AC-7CCF-4340-AD83-597BC7E3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rPr>
              <a:t>企业客户买的是流程落地、权限清楚、审计可查、系统可集成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1674C-2F64-45A6-B5AE-6AECBCC1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857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241249"/>
          </a:solidFill>
          <a:ln xmlns:a="http://schemas.openxmlformats.org/drawingml/2006/main" w="14288">
            <a:solidFill>
              <a:srgbClr val="4D2E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A2D92-5CEC-46FB-BA18-0AAAE104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核心用户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FAA36-C2C2-497F-8048-52233175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业务部门、IT、安全、采购、法务、管理层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55197-E52D-4D39-9D45-041BF3FE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86125"/>
            <a:ext cx="4857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241249"/>
          </a:solidFill>
          <a:ln xmlns:a="http://schemas.openxmlformats.org/drawingml/2006/main" w="14288">
            <a:solidFill>
              <a:srgbClr val="4D2E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D45D6-0ABF-4974-A04B-5107B434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需求来源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ABD3E-F81B-4CD0-A4DD-A54B88EC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2437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流程线上化、远程协作、数据可视化、合规审计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3F969-D5AF-436B-B050-B836D3AF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286125"/>
            <a:ext cx="4857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241249"/>
          </a:solidFill>
          <a:ln xmlns:a="http://schemas.openxmlformats.org/drawingml/2006/main" w="14288">
            <a:solidFill>
              <a:srgbClr val="4D2E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95F29-7541-4EB1-91E4-2B758860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147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最终产品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8ACAA-4418-479B-A7AC-2EAFD16E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52437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CRM、ERP、HRM、财务、协同、BI、安全、垂直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68734-B17D-49B0-9514-EEACFFA3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620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rPr>
              <a:t>企业级 SaaS 软件产业链研究</a:t>
            </a:r>
          </a:p>
        </p:txBody>
      </p:sp>
    </p:spTree>
    <p:extLst>
      <p:ext uri="{BB962C8B-B14F-4D97-AF65-F5344CB8AC3E}">
        <p14:creationId xmlns:p14="http://schemas.microsoft.com/office/powerpoint/2010/main" val="162406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B0D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69E133-829D-4B15-B871-229637B4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挑战与方案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59BB1-C336-4227-ABF1-CE811CD4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241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挑战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297F0-AFBC-403D-8C0C-F71AC057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5241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D5515-08D2-4311-AD1A-B9A540C0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100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CC383-49EA-4881-A47B-FF01EAB3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14750"/>
            <a:ext cx="558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云成本与供应商锁定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6FA32-0C3B-4E8C-8023-3599E454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101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67140-1DAB-4A8E-A917-58826DDE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14875"/>
            <a:ext cx="558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开源依赖与供应链漏洞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B2B5E-3D83-42ED-845E-7122D634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53DD8-C9AC-4A72-8B84-C4DBCB5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715000"/>
            <a:ext cx="558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企业安全审查周期长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70A2A-DBD8-4DDA-9ED2-E0734462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07159-766A-4A4D-8EA6-A4F6559E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714750"/>
            <a:ext cx="586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云成本治理与可观测性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0DEA0-7AEF-4693-A1BE-2ACD1B7B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101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F932B-828C-4203-A4DD-14D8889F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714875"/>
            <a:ext cx="586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SBOM、扫描、发布治理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0EB28-B362-4F3C-8691-97E913C7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10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FE238-DCFF-44EB-8474-22CDB776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715000"/>
            <a:ext cx="586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权限、审计、加密、合规材料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D5AD9-CF7E-4B13-993A-FA1D5D9B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0" cy="4953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4D2EA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71D92-3B07-4742-9C98-CFBCA740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620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rPr>
              <a:t>企业级 SaaS 软件产业链研究</a:t>
            </a:r>
          </a:p>
        </p:txBody>
      </p:sp>
    </p:spTree>
    <p:extLst>
      <p:ext uri="{BB962C8B-B14F-4D97-AF65-F5344CB8AC3E}">
        <p14:creationId xmlns:p14="http://schemas.microsoft.com/office/powerpoint/2010/main" val="100493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B0D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45CA34-6874-435B-8A6B-7A1AFA82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SaaS 如何工作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90BB8-7C9D-4815-82FB-C6042260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rPr>
              <a:t>从产品研发到客户成功，是持续运营而不是一次性交付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CF2E4-AB9E-4573-8A44-90F16417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8572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11044"/>
          </a:solidFill>
          <a:ln xmlns:a="http://schemas.openxmlformats.org/drawingml/2006/main" w="14288">
            <a:solidFill>
              <a:srgbClr val="4D2E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98988-5EB9-42DA-9159-69B5E309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Step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FDC77-1E9C-496F-9426-DC3D8458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241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云基础设施与数据底座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4E9C8-1C14-4F6A-9495-6FE3DE4B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8572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11044"/>
          </a:solidFill>
          <a:ln xmlns:a="http://schemas.openxmlformats.org/drawingml/2006/main" w="14288">
            <a:solidFill>
              <a:srgbClr val="4D2E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41CC6-7CE6-4D98-98F5-8E26CE76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86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Step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8442E-180A-4DE3-8B1B-D43351BA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386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产品研发、多租户与权限模型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805FC-6612-41E8-B3AC-9D19899B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0"/>
            <a:ext cx="8572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11044"/>
          </a:solidFill>
          <a:ln xmlns:a="http://schemas.openxmlformats.org/drawingml/2006/main" w="14288">
            <a:solidFill>
              <a:srgbClr val="4D2E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1A71D-A6C4-4764-A0B6-DC65944A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000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Step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436D05-A237-451E-88F5-9BEC594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531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实施集成、迁移与培训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F8548-F8F7-43A1-A8DD-8C8DAA5B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429500"/>
            <a:ext cx="8572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11044"/>
          </a:solidFill>
          <a:ln xmlns:a="http://schemas.openxmlformats.org/drawingml/2006/main" w="14288">
            <a:solidFill>
              <a:srgbClr val="4D2E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B92B8-ED4D-4EA4-A7FB-55AD8410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7715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Step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139D6-4871-4C3A-9B9D-24A6B1F3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676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客户成功、续约与扩容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3D01F-173C-494D-B505-1ED50CEB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3429000" cy="3429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DAE3A1-BE5F-4517-A2AE-37F671B1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2476500" cy="24765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E4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EFD05-BE88-4D23-A081-820B2A75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620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rPr>
              <a:t>企业级 SaaS 软件产业链研究</a:t>
            </a:r>
          </a:p>
        </p:txBody>
      </p:sp>
    </p:spTree>
    <p:extLst>
      <p:ext uri="{BB962C8B-B14F-4D97-AF65-F5344CB8AC3E}">
        <p14:creationId xmlns:p14="http://schemas.microsoft.com/office/powerpoint/2010/main" val="10580007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B0D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A08EF5-12E5-4916-8668-21303B63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竞争与替代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857250" y="2476500"/>
          <a:ext xmlns:a="http://schemas.openxmlformats.org/drawingml/2006/main" cx="16573500" cy="4953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524500"/>
                <a:gridCol w="5524500"/>
                <a:gridCol w="5524500"/>
              </a:tblGrid>
              <a:tr h="825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B0D3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关键维度</a:t>
                      </a:r>
                    </a:p>
                  </a:txBody>
                  <a:tcPr marL="91440" marR="91440" marT="45720" marB="45720">
                    <a:solidFill>
                      <a:srgbClr val="A4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B0D3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传统软件/项目制</a:t>
                      </a:r>
                    </a:p>
                  </a:txBody>
                  <a:tcPr marL="91440" marR="91440" marT="45720" marB="45720">
                    <a:solidFill>
                      <a:srgbClr val="A4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B0D3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企业级 SaaS</a:t>
                      </a:r>
                    </a:p>
                  </a:txBody>
                  <a:tcPr marL="91440" marR="91440" marT="45720" marB="45720">
                    <a:solidFill>
                      <a:srgbClr val="A477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9F6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部署方式</a:t>
                      </a:r>
                    </a:p>
                  </a:txBody>
                  <a:tcPr marL="91440" marR="91440" marT="45720" marB="45720">
                    <a:solidFill>
                      <a:srgbClr val="2412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9F6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本地部署/项目交付</a:t>
                      </a:r>
                    </a:p>
                  </a:txBody>
                  <a:tcPr marL="91440" marR="91440" marT="45720" marB="45720">
                    <a:solidFill>
                      <a:srgbClr val="2412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9F6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在线订阅/持续升级</a:t>
                      </a:r>
                    </a:p>
                  </a:txBody>
                  <a:tcPr marL="91440" marR="91440" marT="45720" marB="45720">
                    <a:solidFill>
                      <a:srgbClr val="241249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9F6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成本结构</a:t>
                      </a:r>
                    </a:p>
                  </a:txBody>
                  <a:tcPr marL="91440" marR="91440" marT="45720" marB="45720">
                    <a:solidFill>
                      <a:srgbClr val="2412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9F6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前期投入高</a:t>
                      </a:r>
                    </a:p>
                  </a:txBody>
                  <a:tcPr marL="91440" marR="91440" marT="45720" marB="45720">
                    <a:solidFill>
                      <a:srgbClr val="2412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9F6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按席位/模块/用量</a:t>
                      </a:r>
                    </a:p>
                  </a:txBody>
                  <a:tcPr marL="91440" marR="91440" marT="45720" marB="45720">
                    <a:solidFill>
                      <a:srgbClr val="241249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9F6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迭代速度</a:t>
                      </a:r>
                    </a:p>
                  </a:txBody>
                  <a:tcPr marL="91440" marR="91440" marT="45720" marB="45720">
                    <a:solidFill>
                      <a:srgbClr val="2412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9F6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升级慢</a:t>
                      </a:r>
                    </a:p>
                  </a:txBody>
                  <a:tcPr marL="91440" marR="91440" marT="45720" marB="45720">
                    <a:solidFill>
                      <a:srgbClr val="2412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9F6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持续发布</a:t>
                      </a:r>
                    </a:p>
                  </a:txBody>
                  <a:tcPr marL="91440" marR="91440" marT="45720" marB="45720">
                    <a:solidFill>
                      <a:srgbClr val="241249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9F6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安全审计</a:t>
                      </a:r>
                    </a:p>
                  </a:txBody>
                  <a:tcPr marL="91440" marR="91440" marT="45720" marB="45720">
                    <a:solidFill>
                      <a:srgbClr val="2412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9F6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客户自管为主</a:t>
                      </a:r>
                    </a:p>
                  </a:txBody>
                  <a:tcPr marL="91440" marR="91440" marT="45720" marB="45720">
                    <a:solidFill>
                      <a:srgbClr val="2412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9F6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厂商与客户共同治理</a:t>
                      </a:r>
                    </a:p>
                  </a:txBody>
                  <a:tcPr marL="91440" marR="91440" marT="45720" marB="45720">
                    <a:solidFill>
                      <a:srgbClr val="241249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9F6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价值来源</a:t>
                      </a:r>
                    </a:p>
                  </a:txBody>
                  <a:tcPr marL="91440" marR="91440" marT="45720" marB="45720">
                    <a:solidFill>
                      <a:srgbClr val="2412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9F6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功能交付</a:t>
                      </a:r>
                    </a:p>
                  </a:txBody>
                  <a:tcPr marL="91440" marR="91440" marT="45720" marB="45720">
                    <a:solidFill>
                      <a:srgbClr val="2412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9F6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使用率、续约、生态</a:t>
                      </a:r>
                    </a:p>
                  </a:txBody>
                  <a:tcPr marL="91440" marR="91440" marT="45720" marB="45720">
                    <a:solidFill>
                      <a:srgbClr val="24124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054D0-9EED-49A7-ACDC-91EB883C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620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rPr>
              <a:t>企业级 SaaS 软件产业链研究</a:t>
            </a:r>
          </a:p>
        </p:txBody>
      </p:sp>
    </p:spTree>
    <p:extLst>
      <p:ext uri="{BB962C8B-B14F-4D97-AF65-F5344CB8AC3E}">
        <p14:creationId xmlns:p14="http://schemas.microsoft.com/office/powerpoint/2010/main" val="2520827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B0D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0DE7AB-6A12-4E9B-BCA7-84D725B1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客户成功决定续约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CFCF6-A2BB-44B6-9F5D-1AC63C0F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rPr>
              <a:t>续约比新签更能反映产品真实价值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17BA2-8836-4C5D-BE50-80484228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25124D"/>
          </a:solidFill>
          <a:ln xmlns:a="http://schemas.openxmlformats.org/drawingml/2006/main" w="14288">
            <a:solidFill>
              <a:srgbClr val="4D2EA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44B95-A037-4B6F-9961-C4C24195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5762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业务部门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00E73-9929-41A1-823C-FD5DA3BA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看流程是否真的跑起来，报表是否可用。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2B915-19D2-49E5-885E-EE6A229D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25124D"/>
          </a:solidFill>
          <a:ln xmlns:a="http://schemas.openxmlformats.org/drawingml/2006/main" w="14288">
            <a:solidFill>
              <a:srgbClr val="4D2E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1CC06-0989-43DB-BFA4-2DB6A37B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5762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IT / 安全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CD5BA-D294-4761-9C82-C26C2557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2500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看权限、审计、集成、备份和风险响应。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0424C-06AA-4470-948B-933DDBCB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33375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25124D"/>
          </a:solidFill>
          <a:ln xmlns:a="http://schemas.openxmlformats.org/drawingml/2006/main" w="14288">
            <a:solidFill>
              <a:srgbClr val="4D2E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AA801-40FD-40AC-B069-FE6DC1DC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85762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采购 / 财务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DB519-C8AC-45F2-9211-D72CFB2E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762500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看合同、用量、续费、扩容和 ROI 证据。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C294E-6477-4902-AA36-6133CCDB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620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rPr>
              <a:t>企业级 SaaS 软件产业链研究</a:t>
            </a:r>
          </a:p>
        </p:txBody>
      </p:sp>
    </p:spTree>
    <p:extLst>
      <p:ext uri="{BB962C8B-B14F-4D97-AF65-F5344CB8AC3E}">
        <p14:creationId xmlns:p14="http://schemas.microsoft.com/office/powerpoint/2010/main" val="14933570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B0D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585272-7046-466D-85E2-8E3BE5A9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实施时间线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0DC85-2AB8-4923-B062-4B7C5BF3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00750"/>
            <a:ext cx="152400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A477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42F0B-4824-4CA1-B274-58DCD97B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81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FB206-0919-4221-AB37-546AAE42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4C6AC-69F6-4364-BF47-D33E3CA6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667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需求确认与数据盘点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50717-1550-434F-A1DD-C39EA35E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81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99978-D758-4CCA-980A-456CDEFA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0537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Week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F6830-E0CE-4A4F-9E0F-DC00FA30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667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权限、流程与安全策略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E5FBE-ACCB-49DA-8EAF-3A81CB5E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781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0D12F-87F8-44F9-8E2E-6E5B62B2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90537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Week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11CC9-C530-4443-9793-93B0E8E6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系统集成与培训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CAF36-0AEF-40DC-A2E2-C38E64B6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5781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D276E-6428-4E46-B255-C88A4B6B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75" y="490537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Week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F8B9F-45EA-48D1-A9D7-E4200D33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75" y="6667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上线、监控与优化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0D90E-1970-4E31-8E6D-E8373FD1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620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rPr>
              <a:t>企业级 SaaS 软件产业链研究</a:t>
            </a:r>
          </a:p>
        </p:txBody>
      </p:sp>
    </p:spTree>
    <p:extLst>
      <p:ext uri="{BB962C8B-B14F-4D97-AF65-F5344CB8AC3E}">
        <p14:creationId xmlns:p14="http://schemas.microsoft.com/office/powerpoint/2010/main" val="194651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A47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D3A143-52D4-4BEF-A4D0-01CE7DFC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904875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价值与收费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07FCB-C7C0-4CF4-942C-2D6CF703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52750"/>
            <a:ext cx="4000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9F6FF"/>
          </a:solidFill>
          <a:ln xmlns:a="http://schemas.openxmlformats.org/drawingml/2006/main" w="14288">
            <a:solidFill>
              <a:srgbClr val="D8C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45E3C-95DE-4E69-8253-3145C245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528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按席位订阅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9CD13-66A0-4686-952D-A87E0BB1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4000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9F6FF"/>
          </a:solidFill>
          <a:ln xmlns:a="http://schemas.openxmlformats.org/drawingml/2006/main" w="14288">
            <a:solidFill>
              <a:srgbClr val="D8C6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B531A-8608-4861-9944-1CFB83F7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528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按模块收费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26605-76DB-45E6-80FD-77F5A59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52750"/>
            <a:ext cx="4000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9F6FF"/>
          </a:solidFill>
          <a:ln xmlns:a="http://schemas.openxmlformats.org/drawingml/2006/main" w="14288">
            <a:solidFill>
              <a:srgbClr val="D8C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7700E-2008-4FB4-B605-5391994A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33528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按用量计费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04CF2-31E9-41D2-80C5-FF16663E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43500"/>
            <a:ext cx="4000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9F6FF"/>
          </a:solidFill>
          <a:ln xmlns:a="http://schemas.openxmlformats.org/drawingml/2006/main" w="14288">
            <a:solidFill>
              <a:srgbClr val="D8C6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F3F0D-E7F4-4628-B24E-CFE44548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435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企业年约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A9D80-AED5-4102-9E12-E6CA6D17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43500"/>
            <a:ext cx="4000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9F6FF"/>
          </a:solidFill>
          <a:ln xmlns:a="http://schemas.openxmlformats.org/drawingml/2006/main" w="14288">
            <a:solidFill>
              <a:srgbClr val="D8C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3B883-D2FD-4F16-8F85-37848B28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5435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实施服务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FDAFF-6131-4264-92AC-412E2C8D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4000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9F6FF"/>
          </a:solidFill>
          <a:ln xmlns:a="http://schemas.openxmlformats.org/drawingml/2006/main" w="14288">
            <a:solidFill>
              <a:srgbClr val="D8C6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CC16A-11A1-412E-9D1A-A29B639D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55435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生态分成</a:t>
            </a:r>
          </a:p>
        </p:txBody>
      </p:sp>
    </p:spTree>
    <p:extLst>
      <p:ext uri="{BB962C8B-B14F-4D97-AF65-F5344CB8AC3E}">
        <p14:creationId xmlns:p14="http://schemas.microsoft.com/office/powerpoint/2010/main" val="2265240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0D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F80A68-442C-4782-94B9-D742292D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CAD78-1354-44F0-A7F3-870658FF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41249"/>
          </a:solidFill>
          <a:ln xmlns:a="http://schemas.openxmlformats.org/drawingml/2006/main" w="14288">
            <a:solidFill>
              <a:srgbClr val="4D2EA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25A40-8114-45D8-AEF1-44ACC417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29125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5D30E-83B7-4235-82A9-B8F8E9ED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34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确认业务场景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3BA1E-7871-4BED-9659-6E48AC69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00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41249"/>
          </a:solidFill>
          <a:ln xmlns:a="http://schemas.openxmlformats.org/drawingml/2006/main" w="14288">
            <a:solidFill>
              <a:srgbClr val="4D2EA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DE0E4-E101-4262-B2D7-9888B588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29125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9331D-209A-47FD-B712-6F455D66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34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评估安全与集成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7334E-1E73-401F-8A0B-59ECB19D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00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41249"/>
          </a:solidFill>
          <a:ln xmlns:a="http://schemas.openxmlformats.org/drawingml/2006/main" w="14288">
            <a:solidFill>
              <a:srgbClr val="4D2E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0BBA5-621C-427F-95FC-3394F07C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29125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CC870-8AF4-493F-8F63-8CDF9991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334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试点上线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5EA7B-7672-4AEF-8E64-227E6644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00050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41249"/>
          </a:solidFill>
          <a:ln xmlns:a="http://schemas.openxmlformats.org/drawingml/2006/main" w="14288">
            <a:solidFill>
              <a:srgbClr val="4D2E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0D568-5EB6-4FE6-8C31-EC01016E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4429125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263EB-81CE-4425-976D-D789D771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5334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续约扩容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51323-04EF-42EA-9490-59FA5003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620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rPr>
              <a:t>企业级 SaaS 软件产业链研究</a:t>
            </a:r>
          </a:p>
        </p:txBody>
      </p:sp>
    </p:spTree>
    <p:extLst>
      <p:ext uri="{BB962C8B-B14F-4D97-AF65-F5344CB8AC3E}">
        <p14:creationId xmlns:p14="http://schemas.microsoft.com/office/powerpoint/2010/main" val="6306701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B0D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8AA036-896E-4A40-9576-B19384E4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7239000" cy="72390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E4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9F5BF-AE74-4359-897C-3DA660E3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7429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SaaS 的壁垒</a:t>
            </a:r>
          </a:p>
          <a:p xmlns:a="http://schemas.openxmlformats.org/drawingml/2006/main">
            <a:pPr>
              <a:defRPr sz="510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不是上线，</a:t>
            </a:r>
          </a:p>
          <a:p xmlns:a="http://schemas.openxmlformats.org/drawingml/2006/main">
            <a:pPr>
              <a:defRPr sz="510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而是持续被使用。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C035C-D83F-4B98-8E96-0E55AC62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286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rPr>
              <a:t>产品复用 · 安全合规 · 数据沉淀 · 客户成功 · 生态集成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25B72-2D3E-4185-959A-BCD71DBD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620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rPr>
              <a:t>企业级 SaaS 软件产业链研究</a:t>
            </a:r>
          </a:p>
        </p:txBody>
      </p:sp>
    </p:spTree>
    <p:extLst>
      <p:ext uri="{BB962C8B-B14F-4D97-AF65-F5344CB8AC3E}">
        <p14:creationId xmlns:p14="http://schemas.microsoft.com/office/powerpoint/2010/main" val="20598872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040C69-5DB8-48A4-9548-7F9F7F37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620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资料来源与合规索引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9AC83-DEFD-4375-AAA8-20D2487C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F990D-A0DE-4B13-AE52-0258D57B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81250"/>
            <a:ext cx="1339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NIST SP 800-145：云计算与 SaaS 定义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ADD2B-D997-403C-A71A-9FEC4AC1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7FD16-40AB-415D-8C0F-5B0C8198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19450"/>
            <a:ext cx="1339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CISA Secure by Design：软件厂商安全责任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6F480-22D7-4637-A19E-78C152B5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D7E2A-E85C-4F11-923D-0D70223B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57650"/>
            <a:ext cx="1339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OWASP SCVS：软件组件与供应链安全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39F48-6CF4-443E-9242-2E5D3363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911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0CD40-4FBE-45CB-90AA-86C9EED6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95850"/>
            <a:ext cx="1339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FASB Topic 606：订阅合同与收入确认框架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19F8B-705F-455F-BD23-F7C21F5D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3D8B1-810C-430D-950F-3DD6DBA9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34050"/>
            <a:ext cx="1339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Cloud Security Alliance：SaaS 安全治理参考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02567-68D1-40F3-BA5B-9BF47A06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905750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1B0D39"/>
                </a:solidFill>
                <a:latin typeface="PingFang SC"/>
                <a:ea typeface="PingFang SC"/>
                <a:cs typeface="PingFang SC"/>
              </a:rPr>
              <a:t>重点关注：身份权限、审计日志、数据治理、开源依赖、云成本和客户续约。</a:t>
            </a:r>
          </a:p>
        </p:txBody>
      </p:sp>
    </p:spTree>
    <p:extLst>
      <p:ext uri="{BB962C8B-B14F-4D97-AF65-F5344CB8AC3E}">
        <p14:creationId xmlns:p14="http://schemas.microsoft.com/office/powerpoint/2010/main" val="14695303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B0D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30CC46-EF09-4928-817F-55AF64DC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B5970-A7DE-4A28-BA36-0003B2C3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企业级 SaaS 是云基础设施、软件工程、业务流程、安全合规和客户经营共同组成的产业链。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67B26-D2EB-4021-BFBB-59FED13E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 i="0">
                <a:solidFill>
                  <a:srgbClr val="BDAAF2"/>
                </a:solidFill>
                <a:latin typeface="PingFang SC"/>
                <a:ea typeface="PingFang SC"/>
                <a:cs typeface="PingFang SC"/>
              </a:rPr>
              <a:t>可继续拆解：云基础设施、低代码、企业安全软件、CRM、BI、AI Agent、API 集成平台。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0B351-AA47-46CE-B6F1-94A0E13E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A477FF"/>
                </a:solidFill>
                <a:latin typeface="PingFang SC"/>
                <a:ea typeface="PingFang SC"/>
                <a:cs typeface="PingFang SC"/>
              </a:rPr>
              <a:t>小红书标题：SaaS 软件背后的产业链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1F312-D6D2-4074-8D53-DB9637F3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429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i="0">
                <a:solidFill>
                  <a:srgbClr val="F9F6FF"/>
                </a:solidFill>
                <a:latin typeface="PingFang SC"/>
                <a:ea typeface="PingFang SC"/>
                <a:cs typeface="PingFang SC"/>
              </a:rPr>
              <a:t>#SaaS产业链 #企业软件 #云计算 #软件商业模式 #客户成功</a:t>
            </a:r>
          </a:p>
        </p:txBody>
      </p:sp>
    </p:spTree>
    <p:extLst>
      <p:ext uri="{BB962C8B-B14F-4D97-AF65-F5344CB8AC3E}">
        <p14:creationId xmlns:p14="http://schemas.microsoft.com/office/powerpoint/2010/main" val="96788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2026-06-18T15:02:11.4870000Z</dcterms:created>
  <dcterms:modified xsi:type="dcterms:W3CDTF">2026-06-18T15:02:11.4880000Z</dcterms:modified>
</coreProperties>
</file>